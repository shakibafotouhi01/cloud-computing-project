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69" r:id="rId6"/>
    <p:sldId id="260" r:id="rId7"/>
    <p:sldId id="261" r:id="rId8"/>
    <p:sldId id="262" r:id="rId9"/>
    <p:sldId id="263" r:id="rId10"/>
    <p:sldId id="270" r:id="rId11"/>
    <p:sldId id="264" r:id="rId12"/>
    <p:sldId id="265" r:id="rId13"/>
    <p:sldId id="266" r:id="rId14"/>
    <p:sldId id="26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3B8"/>
    <a:srgbClr val="FEFBEA"/>
    <a:srgbClr val="F9FEEB"/>
    <a:srgbClr val="F0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74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topic, and mention you chose the MinIO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The whole presentation is ~12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GlusterFS needs a kernel module and HDFS is overkill. MinIO runs as plain Docker containers, has a built-in web console, and uses erasure coding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EC:2 is NOT configured manually — MinIO derives it automatically from the number of nodes. With 4 nodes, the formula is always N/2 data + N/2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each service has its own Dockerfile and requirements.txt — they are truly independent. If the thumbnailer crashes, the uploader and reader keep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property back to the course slides. Fault tolerance = masking failures. HA = always reachable. Security = authentication + authorisation. Observability supports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demo_fault_tolerance.sh live. After each docker stop, call curl on cluster-status to show the node count dropping in real time. Step 4 is the key moment — explain 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demo_security.sh live. Each step pauses so you can narrate. Key moments: step 1 shows the bucket policy working, steps 3-4 show RBAC blocking writes and deletes, step 5 proves read-only access still works, step 7 demonstrates SHA256 catching data corruption.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professor will almost certainly ask this. MinIO is CP: it sacrifices availability to preserve consistency when quorum is lost. This is the right choice for a storage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professor will almost certainly ask about failure types from the course. Be ready to map each type to what your system does or doesn't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is a core concept from the course. Be ready to give an example for each type. The location and replication transparencies are the most important for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everything back to the course: fault tolerance, NFPs, CAP theorem, microservice independence. Be ready for questions on any of the 20 topics in the exam prep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close the presentation. Shows the professor you understand the limitations of the current system and know how to extend it. Key points: TLS for security, second nginx for true HA, Kubernetes for production scalability, PBFT for Byzantine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CLOUD COMPUTING TECHNOLOGIES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Data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Object Storage · Microservice Application · Non-Functional Properties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2004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Milan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Professors: Anisetti &amp; Ardagna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2025/2026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Shakiba Fotouhi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837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MinIO over GlusterFS and HDFS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76672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6672" y="1837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containers, 3 layers, one network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Python/Flask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76672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Two Demo</a:t>
            </a:r>
          </a:p>
        </p:txBody>
      </p:sp>
      <p:sp>
        <p:nvSpPr>
          <p:cNvPr id="20" name="Text 18"/>
          <p:cNvSpPr/>
          <p:nvPr/>
        </p:nvSpPr>
        <p:spPr>
          <a:xfrm>
            <a:off x="5376672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Properties </a:t>
            </a:r>
            <a:r>
              <a:rPr lang="en-US" sz="1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–</a:t>
            </a:r>
            <a:r>
              <a:rPr lang="en-US" sz="1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tolerance, HA, security</a:t>
            </a:r>
          </a:p>
          <a:p>
            <a:r>
              <a:rPr lang="en-US" sz="10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Security Demo </a:t>
            </a:r>
            <a:r>
              <a:rPr lang="en-US" sz="1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– </a:t>
            </a:r>
            <a:r>
              <a:rPr lang="en-US" sz="1000" dirty="0">
                <a:solidFill>
                  <a:srgbClr val="94A3B8"/>
                </a:solidFill>
              </a:rPr>
              <a:t>Authentication, </a:t>
            </a:r>
            <a:r>
              <a:rPr lang="en-US" sz="1000" dirty="0" err="1">
                <a:solidFill>
                  <a:srgbClr val="94A3B8"/>
                </a:solidFill>
              </a:rPr>
              <a:t>Authorisation</a:t>
            </a:r>
            <a:r>
              <a:rPr lang="en-US" sz="1000" dirty="0">
                <a:solidFill>
                  <a:srgbClr val="94A3B8"/>
                </a:solidFill>
              </a:rPr>
              <a:t>, Integrity </a:t>
            </a:r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70432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Simulation &amp; Demo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3941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node killing and recovery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76672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 &amp; Conclusions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941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behaviour and trade-offs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MinIO? Comparison of Options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FULLY DISTRIBUTED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GlusterFS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Truly peer-to-peer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master node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single point of failure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Kernel module required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run in Docker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877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Complex network config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572000"/>
            <a:ext cx="2377440" cy="219456"/>
          </a:xfrm>
          <a:prstGeom prst="roundRect">
            <a:avLst>
              <a:gd name="adj" fmla="val 16667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572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HIGH difficulty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0" y="1481328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MASTER / WORKER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2267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Battle-tested at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596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fault tolerance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 for big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NameNode = single point of failure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566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Java-heavy setup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877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Overkill for this project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572000"/>
            <a:ext cx="2377440" cy="219456"/>
          </a:xfrm>
          <a:prstGeom prst="roundRect">
            <a:avLst>
              <a:gd name="adj" fmla="val 16667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4572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HIGH difficulty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1481328"/>
            <a:ext cx="237744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SELECTED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7220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2267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Pure Docker – no OS changes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596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S3-compatible HTTP API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metrics &amp; console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Centralised API endpoint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3566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Mitigated by nginx LB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4572000"/>
            <a:ext cx="2377440" cy="219456"/>
          </a:xfrm>
          <a:prstGeom prst="roundRect">
            <a:avLst>
              <a:gd name="adj" fmla="val 16667"/>
            </a:avLst>
          </a:prstGeom>
          <a:solidFill>
            <a:srgbClr val="16A34A">
              <a:alpha val="1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4572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LOW difficulty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h_hq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CA5AE6-3AE9-BAF6-1E36-60C41CDEB2CB}"/>
              </a:ext>
            </a:extLst>
          </p:cNvPr>
          <p:cNvSpPr txBox="1"/>
          <p:nvPr/>
        </p:nvSpPr>
        <p:spPr>
          <a:xfrm>
            <a:off x="5914238" y="596330"/>
            <a:ext cx="397866" cy="523220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A7ACE-58C9-2765-4947-F9A2E9EB0549}"/>
              </a:ext>
            </a:extLst>
          </p:cNvPr>
          <p:cNvSpPr/>
          <p:nvPr/>
        </p:nvSpPr>
        <p:spPr>
          <a:xfrm>
            <a:off x="6246658" y="2472472"/>
            <a:ext cx="397866" cy="99278"/>
          </a:xfrm>
          <a:prstGeom prst="rect">
            <a:avLst/>
          </a:prstGeom>
          <a:solidFill>
            <a:srgbClr val="FEFB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596D1-557B-9502-2EA7-4F35DAD2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700849"/>
            <a:ext cx="8178799" cy="374180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Erasure Coding EC:2 — How Files Are Stored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EC:2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  →  2 data chunks + 2 parity chunks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nodes can die — file remains readable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Full Replication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copies of each file  =  4× storage waste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EC:2  =  only 2× storage overhead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054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chunk 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6974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054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chunk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328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6974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054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chunk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328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6974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054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chunk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328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393192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DEAD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DEAD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minio3 + minio4 dead  →  chunk A + chunk B still available  →  file fully reconstructed ✓</a:t>
            </a:r>
            <a:endParaRPr lang="en-US" sz="11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C584F9CD-A3B5-2306-38CB-53984B520C44}"/>
              </a:ext>
            </a:extLst>
          </p:cNvPr>
          <p:cNvSpPr/>
          <p:nvPr/>
        </p:nvSpPr>
        <p:spPr>
          <a:xfrm>
            <a:off x="548640" y="3931920"/>
            <a:ext cx="3657600" cy="7696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6C9C8E-C985-7959-0710-CBBCDB29CFAB}"/>
              </a:ext>
            </a:extLst>
          </p:cNvPr>
          <p:cNvSpPr txBox="1"/>
          <p:nvPr/>
        </p:nvSpPr>
        <p:spPr>
          <a:xfrm>
            <a:off x="552450" y="3947082"/>
            <a:ext cx="3467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EC:2 defines two separate quorums.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write quorum requires N/2 + 1 = 3 nodes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Read quorum requires N/2 = 2 nodes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Independent Microservices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402336" cy="40233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1541678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7007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463040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14600" y="14630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0" y="14630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file, generates UUID key, stores to MinIO via nginx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075688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4360" y="2185416"/>
            <a:ext cx="402336" cy="402336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2245766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2130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97280" y="2404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514600" y="2167128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514600" y="2167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/files  ·  DELETE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54880" y="21671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objects, streams downloads in 32 KB chunks, deletes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277977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94360" y="2889504"/>
            <a:ext cx="402336" cy="40233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" y="294985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thumbnailer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97280" y="3108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514600" y="2871216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2514600" y="2871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/thumbnail/{key}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754880" y="287121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image from MinIO, generates 128×128 thumbnail via Pillow, stores back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7200" y="3483864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94360" y="3593592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" y="3653942"/>
            <a:ext cx="281635" cy="28163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728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097280" y="38130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514600" y="3575304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2514600" y="35753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/metadata  ·  GET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754880" y="35753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file metadata as JSON objects back into MinIO bucket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57200" y="418795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594360" y="4297680"/>
            <a:ext cx="402336" cy="40233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" y="4358030"/>
            <a:ext cx="281635" cy="28163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97280" y="4242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cluster-status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1097280" y="4517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2514600" y="4279392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2514600" y="42793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/cluster/status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4754880" y="42793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each node individually, returns online count, quorum state, storage stats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NON-FUNCTIONAL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Properties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1490472"/>
            <a:ext cx="438912" cy="4389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9" y="155630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72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1984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EC:2 erasure coding — tolerates 2 simultaneous node failures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1792" y="22402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nginx health checks route around unresponsive nodes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1792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restart: always — Docker auto-restarts crashed containers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82312" y="1490472"/>
            <a:ext cx="438912" cy="43891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149" y="1556309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0952" y="1472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82312" y="198424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nginx round-robin load balancer across 4 nodes , health checks before nginx starts routing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82312" y="2303200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single point of failure in the storage layer</a:t>
            </a:r>
            <a:r>
              <a:rPr lang="fa-I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automatic restart on crash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782312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Stateless microservices — scale horizontally with replicas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1792" y="3227832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9" y="3293669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0432" y="32095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1792" y="3721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Bucket policy: mc anonymous set none → HTTP 403 for anonymous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21792" y="39776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RBAC: read-only user (readeruser) vs admin user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21792" y="42336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credentials via env vars — never hardcoded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617720" y="306324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782312" y="3227832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149" y="3293669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30952" y="32095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782312" y="3721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Prometheus scrapes MinIO every 5s via JWT bearer token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782312" y="39776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Grafana live dashboard: nodes online, throughput, storage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782312" y="42336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cluster-status microservice: real-time quorum state via API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Simulation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78992" y="1499616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1499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4 / 4 nodes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download → HTTP 201 / 200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13055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8992" y="2167128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21671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3 / 4 nodes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minio1 stopped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1305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still readable — erasure coding masks failure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06624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2798064"/>
            <a:ext cx="402336" cy="4023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78992" y="283464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78992" y="2834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2 / 4 nodes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minio2 stopped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7980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readable — at EC:2 minimum quorum ✓</a:t>
            </a:r>
          </a:p>
          <a:p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can’t write — at EC:2 minimum write quorum is 3</a:t>
            </a:r>
          </a:p>
        </p:txBody>
      </p:sp>
      <p:sp>
        <p:nvSpPr>
          <p:cNvPr id="26" name="Shape 24"/>
          <p:cNvSpPr/>
          <p:nvPr/>
        </p:nvSpPr>
        <p:spPr>
          <a:xfrm>
            <a:off x="457200" y="3374136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" y="3465576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78992" y="3502152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78992" y="35021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1 / 4 nodes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465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minio3 stopped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3465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— quorum lost, MinIO refuses (CP behaviour) 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41648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928" y="413308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78992" y="416966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7899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4 / 4 nodes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7744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restarted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0560" y="41330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Self-healed in ~15 s — full recovery, no data loss 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4360" y="477316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demonstrates the CAP theorem: MinIO is a CP system — it chooses Consistency over Availability when quorum is lost.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Demo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78992" y="1335024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1335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BLOCKED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76272" y="1316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159105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http://localhost:9000/uploads/  (no credentials)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8992" y="17922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policy: mc anonymous set none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2286000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8992" y="219456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21945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ALLOWED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76272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24505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http://localhost:5002/files  (via microservice)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" y="26517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injected via environment variables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3145536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78992" y="3054096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78992" y="30540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BLOCKED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76272" y="30358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readeruser Upload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" y="3310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 cp evil.txt readonly/uploads/evil.txt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8992" y="35112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write permission missing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" y="4005072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8992" y="391363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78992" y="3913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BLOCKED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76272" y="3895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readeruser Delete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" y="4169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 rm readonly/uploads/{key}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8992" y="437083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delete permission missing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126187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27448" y="1426464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27448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39512" y="1335024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39512" y="1335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ALLOWED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36792" y="1316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readeruser Read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9512" y="159105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 ls readonly/uploads  +  mc cp readonly/uploads/{key}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39512" y="17922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s3:GetObject + s3:ListBucket are in readonly-policy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2121408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27448" y="2286000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2744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39512" y="219456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39512" y="21945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ALLOWED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36792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Full Access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39512" y="24505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  then  DELETE /files/{key}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39512" y="26517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has unrestricted s3:* permissions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298094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27448" y="3145536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2744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239512" y="3054096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39512" y="30540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</a:rPr>
              <a:t>DETECTS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36792" y="30358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Integrity Check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39512" y="3310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original  vs  sha256sum downloaded  vs  sha256sum corrupted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39512" y="35112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failure detection — accidental data corruption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4736592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8640" y="473659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required for all operations   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95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readonly-policy vs admin   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Integrity 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detects response failures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Theorem — Where MinIO Sits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463040"/>
            <a:ext cx="731520" cy="7315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returns the most recent write. All clients see the same data at the same time.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receives a response — even if some nodes are down.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95160" y="14630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Tolerance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keeps working even when the network splits and nodes cannot communicate.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distributed system can guarantee at most 2 of the 3 properties simultaneously.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network partitions are always possible in practice, every real system must tolerate P — the real choice is CP vs AP.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406908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65960" y="4114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 is CP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65960" y="44256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quorum (&lt; 2 of 4 nodes), MinIO refuses requests rather than return stale data → demonstrated in Step 4 with HTTP 500.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Taxonomy — Course Model vs Our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failure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halts and stops working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499616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6A34A">
              <a:alpha val="1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499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 Handled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77640" y="14630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EC:2 reconstructs file from remaining nodes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084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 failure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359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stops responding to messages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2157984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6A34A">
              <a:alpha val="15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 Handled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77640" y="212140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health checks stop routing to unresponsive node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failure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arrives outside expected time window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81635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28163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~ Partial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7640" y="277977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timeouts configured; no SLA guarantee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46704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failure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responds with wrong value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347472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51760" y="3474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~ Partial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77640" y="343814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coding detects corruption; no Byzantine guard</a:t>
            </a:r>
            <a:b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SHA256 checksum verification?</a:t>
            </a:r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4360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(Byzantine)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334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behaves maliciously/randomly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4133088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51760" y="4133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✗ Not covered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77640" y="409651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3f+1 nodes and PBFT consensus — out of scope</a:t>
            </a:r>
            <a:b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Transparency in Our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591056"/>
            <a:ext cx="402336" cy="402336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63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transparency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7556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use the same HTTP API regardless of how many nodes hold the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591056"/>
            <a:ext cx="402336" cy="402336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76088" y="1463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transparency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76088" y="17556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call nginx:9000 — they never know that minio1, 2, 3, 4 physically exist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596896"/>
            <a:ext cx="402336" cy="402336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468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transparency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coding is invisible to the application — it just calls put_object()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37744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596896"/>
            <a:ext cx="402336" cy="402336"/>
          </a:xfrm>
          <a:prstGeom prst="ellipse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6088" y="2468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transparency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088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minio1 dies, the application receives no error — failure is masked by EC:2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3602736"/>
            <a:ext cx="402336" cy="402336"/>
          </a:xfrm>
          <a:prstGeom prst="ellipse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~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3474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transparency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" y="37673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can be moved but no automatic object migration between nodes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38328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02736"/>
            <a:ext cx="402336" cy="402336"/>
          </a:xfrm>
          <a:prstGeom prst="ellipse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~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76088" y="3474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transparency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37673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handles concurrent reads; write conflicts not explicitly managed at app level, serialized by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 &amp; Proved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50876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4-node MinIO cluster with automatic EC:2 erasure coding across all objects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94767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load balancer + restart policies — no single point of failure in the storage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865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86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3865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Demonstrated: 2-node failure masked transparently, 3-node failure → CP refusal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825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8254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application: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82549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stateless Python/Flask services, each deployable separately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644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2644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2644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 (403 for anonymous), RBAC (read-only vs admin user)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7033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live metrics + custom cluster-status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142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41422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is CP: refuses requests below quorum rather than returning stale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347472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4663440"/>
            <a:ext cx="34290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https://github.com/shakibafotouhi01/Cloud-Computing-Project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IMPROVEMENTS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Be Added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15568" y="133502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1335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87168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Encryption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609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HTTPS on nginx endpoint — encrypt data in transit between all services and clients.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nginx ssl_certificate + secure=True in MinIO SDK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261872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54864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45736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76088" y="1335024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76088" y="1335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47688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nginx Instance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76088" y="1609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nginx single point of failure by running a primary + backup with Keepalived and a floating IP.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76088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Keepalived heartbeat — failover in &lt; 1 second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32304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542032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15568" y="250545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15568" y="25054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87168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accessed which file and when. Required for full data governance and compliance.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MinIO audit log → separate logging container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432304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2542032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45736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276088" y="2505456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76088" y="25054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47688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 Policies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76088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Auto-expire files after N days. Prevents unbounded storage growth and enforces retention rules.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76088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mc ilm rule add local/uploads --expiry-days 30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602736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712464"/>
            <a:ext cx="54864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5216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☸️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115568" y="3675888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15568" y="3675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87168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15568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Docker Compose with Kubernetes for automatic container scheduling, rolling updates, and self-healing at scale.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" y="4352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Deployments + StatefulSets + PersistentVolumes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3602736"/>
            <a:ext cx="39776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17720" y="3712464"/>
            <a:ext cx="54864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45736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5276088" y="3675888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76088" y="3675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47688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Byzantine Fault Tolerance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76088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7 nodes (EC:3) and add PBFT consensus to tolerate malicious node behaviour, not just crashes.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76088" y="4352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3f+1 nodes + PBFT protocol + SHA256 verification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754880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is demo-ready and academically complete · These extensions would bring it to production standard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2030</Words>
  <Application>Microsoft Office PowerPoint</Application>
  <PresentationFormat>On-screen Show (16:9)</PresentationFormat>
  <Paragraphs>327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 – Distributed Data</dc:title>
  <dc:subject>PptxGenJS Presentation</dc:subject>
  <dc:creator>PptxGenJS</dc:creator>
  <cp:lastModifiedBy>Shakiba Fotouhi</cp:lastModifiedBy>
  <cp:revision>4</cp:revision>
  <dcterms:created xsi:type="dcterms:W3CDTF">2026-06-14T12:51:36Z</dcterms:created>
  <dcterms:modified xsi:type="dcterms:W3CDTF">2026-06-15T11:58:23Z</dcterms:modified>
</cp:coreProperties>
</file>